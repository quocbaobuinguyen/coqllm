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  <a:latin typeface="Cambria"/>
              </a:rPr>
              <a:t>CĂN CHỈNH VÀ TÍCH HỢP THÔNG TIN CỘNG TÁC</a:t>
            </a:r>
          </a:p>
          <a:p>
            <a:pPr algn="l"/>
            <a:r>
              <a:rPr sz="1800" b="1" i="0">
                <a:solidFill>
                  <a:srgbClr val="1E3A5F"/>
                </a:solidFill>
                <a:latin typeface="Cambria"/>
              </a:rPr>
              <a:t>NHẰM NÂNG CAO HIỆU QUẢ CHO HỆ THỐNG TƯ VẤN</a:t>
            </a:r>
          </a:p>
          <a:p>
            <a:pPr algn="l"/>
            <a:r>
              <a:rPr sz="1800" b="1" i="0">
                <a:solidFill>
                  <a:srgbClr val="1E3A5F"/>
                </a:solidFill>
                <a:latin typeface="Cambria"/>
              </a:rPr>
              <a:t>DỰA TRÊN MÔ HÌNH NGÔN NGỮ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89B2D"/>
                </a:solidFill>
                <a:latin typeface="Cambria"/>
              </a:rPr>
              <a:t>Báo cáo P10 — Tiến độ luận văn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43A40"/>
                </a:solidFill>
                <a:latin typeface="Calibri"/>
              </a:rPr>
              <a:t>Học viên:  Bùi Nguyên Quốc Bảo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43A40"/>
                </a:solidFill>
                <a:latin typeface="Calibri"/>
              </a:rPr>
              <a:t>MSHV:     24C12002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43A40"/>
                </a:solidFill>
                <a:latin typeface="Calibri"/>
              </a:rPr>
              <a:t>Ngành:    Hệ Thống Thông Tin</a:t>
            </a:r>
          </a:p>
          <a:p>
            <a:pPr algn="l"/>
            <a:r>
              <a:rPr sz="1200" b="0" i="0">
                <a:solidFill>
                  <a:srgbClr val="343A40"/>
                </a:solidFill>
                <a:latin typeface="Calibri"/>
              </a:rPr>
              <a:t>Ngày:     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Nội dung báo cáo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Cập nhật so với báo cáo P9 — bốn cải tiến và phân tích phương pháp luận của CoRA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86868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05256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Tổng quan kiến trúc và kết quả nền tảng (báo cáo P9)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399031"/>
            <a:ext cx="365760" cy="365760"/>
          </a:xfrm>
          <a:prstGeom prst="ellipse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35607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Năm cải tiến: đóng gói đa-token, CoRA, tách bộ chiếu, mô hình instruction-tuned, cân bằng học tương phản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929384"/>
            <a:ext cx="365760" cy="365760"/>
          </a:xfrm>
          <a:prstGeom prst="ellipse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CoRA và phân tích phương pháp luận khi kết hợp với Q-Former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459736"/>
            <a:ext cx="365760" cy="365760"/>
          </a:xfrm>
          <a:prstGeom prst="ellipse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96312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Quan sát trong quá trình huấn luyện (giai đoạn 1 và giai đoạn 2)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2E6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26664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Kết quả thực nghiệm hiện tại — tổng thể và theo nhóm warm / cold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2E6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So sánh với các phương pháp tham chiếu và biểu đồ warm / cold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050791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87368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Định hướng và kế hoạch nghiên cứu loại bỏ tiếp theo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9B2D"/>
                </a:solidFill>
                <a:latin typeface="Cambria"/>
              </a:rPr>
              <a:t>Phần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Tổng quan và kết quả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6CFE5"/>
                </a:solidFill>
                <a:latin typeface="Calibri"/>
              </a:rPr>
              <a:t>Kiến trúc và các phát hiện đã thiết lập (báo cáo P9)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Tổng quan kiến trúc và kết quả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Kiến trúc ba giai đoạn: MF → Q-Former → Qwen2-7B-Base + LoRA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•  Quy trình ba giai đoạn: MF (lọc cộng tác) → Q-Former (cầu nối) → Qwen2-7B-Base + LoRA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Token mềm thông tin cộng tác đóng góp rõ rệt: +5.15 điểm uAUC trên nhóm warm so với chỉ dùng văn bản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Token mềm phía người dùng: +1.79 điểm uAUC trên nhóm cold (bù tín hiệu khi khởi đầu lạnh)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Cơ chế nhận biết chỉ dẫn không chuyển giao được sang tác vụ đơn dự đoán tỉ lệ nhấp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Kết quả nền tảng (chỉ dùng thông tin cộng tác phía item): AUC 0.7325 / uAUC 0.7170 — vượt MF/DIN/TALLRec, ngang CoLLM, dưới BinLLM/SeLLa-Rec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4114800" cy="14173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1927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mbria"/>
              </a:rPr>
              <a:t>✓ KẾT QUẢ TÍCH CỰC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30168"/>
            <a:ext cx="38404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E8B57"/>
                </a:solidFill>
                <a:latin typeface="Calibri"/>
              </a:rPr>
              <a:t>Q-Former hoạt động hiệu quả như cầu nối từ thông tin cộng tác sang mô hình ngôn ngữ.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246120"/>
            <a:ext cx="4114800" cy="1417320"/>
          </a:xfrm>
          <a:prstGeom prst="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31927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9B2D"/>
                </a:solidFill>
                <a:latin typeface="Cambria"/>
              </a:rPr>
              <a:t>⚠ HẠN CHẾ ĐÃ XÁC ĐỊNH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630168"/>
            <a:ext cx="38404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89B2D"/>
                </a:solidFill>
                <a:latin typeface="Calibri"/>
              </a:rPr>
              <a:t>Cold-start vẫn là điểm yếu; uAUC chưa cải thiện mạnh.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9B2D"/>
                </a:solidFill>
                <a:latin typeface="Cambria"/>
              </a:rPr>
              <a:t>Phần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Các cải tiến tuần này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6CFE5"/>
                </a:solidFill>
                <a:latin typeface="Calibri"/>
              </a:rPr>
              <a:t>Đóng gói ngữ cảnh đa-token · CoRA · Tách bộ chiếu · Mô hình instruction-tuned · Cân bằng học tương phản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Đóng gói ngữ cảnh cộng tác đa-token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Q-Former chú ý chéo trên chuỗi token có cấu trúc thay vì một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•  Trước (báo cáo P9): Q-Former chú ý chéo trên một token cộng tác duy nhất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•  Hiện tại: chuỗi mười hai token có cấu trúc = 1 người dùng + 1 mục tiêu + 10 lịch sử</a:t>
            </a:r>
          </a:p>
          <a:p>
            <a:pPr algn="l" lvl="1">
              <a:spcAft>
                <a:spcPts val="900"/>
              </a:spcAft>
            </a:pPr>
            <a:r>
              <a:rPr sz="1300" b="0" i="0">
                <a:solidFill>
                  <a:srgbClr val="6C757D"/>
                </a:solidFill>
                <a:latin typeface="Calibri"/>
              </a:rPr>
              <a:t>–  mỗi token = bộ chiếu(MF) + embedding loại (người dùng / mục tiêu / lịch sử) + embedding vị trí cho lịch sử</a:t>
            </a:r>
          </a:p>
          <a:p>
            <a:pPr algn="l" lvl="1">
              <a:spcAft>
                <a:spcPts val="900"/>
              </a:spcAft>
            </a:pPr>
            <a:r>
              <a:rPr sz="1300" b="0" i="0">
                <a:solidFill>
                  <a:srgbClr val="6C757D"/>
                </a:solidFill>
                <a:latin typeface="Calibri"/>
              </a:rPr>
              <a:t>–  số truy vấn 8 → 16 (tăng băng thông biểu diễn); hợp nhất ba ô giữ chỗ cũ thành một ô duy nhất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Q-Former phân biệt được vai trò từng thực thể cộng tác thay vì một vector trộn lẫn duy nhất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9312"/>
            <a:ext cx="8138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mbria"/>
              </a:rPr>
              <a:t>✓ KẾT QUẢ (so với Q-Former một token)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0208"/>
            <a:ext cx="813815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E8B57"/>
                </a:solidFill>
                <a:latin typeface="Calibri"/>
              </a:rPr>
              <a:t>uAUC trên nhóm cold +0.019 (0.6516 → 0.6705): tín hiệu danh tính người dùng hỗ trợ khi lịch sử thưa; AUC giữ nguyên (trong biên độ nhiễu).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Năm cải tiến tuần này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Khác biệt chính so với cấu hình nền tảng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914400"/>
          <a:ext cx="8412480" cy="306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3657600"/>
                <a:gridCol w="2103120"/>
              </a:tblGrid>
              <a:tr h="5105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Cải tiến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Cơ chế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Kỳ vọng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6C757D"/>
                          </a:solidFill>
                          <a:latin typeface="Calibri"/>
                        </a:rPr>
                        <a:t>Đóng gói ngữ cảnh đa-token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Q-Former chú ý chéo trên chuỗi mười hai token (người dùng / mục tiêu / lịch sử) thay vì một token; số truy vấn 8 → 16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Phân biệt vai trò từng thực thể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6C757D"/>
                          </a:solidFill>
                          <a:latin typeface="Calibri"/>
                        </a:rPr>
                        <a:t>CoRA — tiêm thông tin cộng tác vào trọng số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Sinh trọng số tăng thêm hạng thấp (ΔW) từ truy vấn Q-Former, hợp nhất vào trọng số mô hình ngôn ngữ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Thông tin cộng tác thấm sâu, tránh nhiễu không gian đầu vào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6C757D"/>
                          </a:solidFill>
                          <a:latin typeface="Calibri"/>
                        </a:rPr>
                        <a:t>Tách bộ chiếu user / item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Bộ chiếu riêng cho user và item (thay một ánh xạ dùng chung)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Không ràng buộc user và item vào chung một không gian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6C757D"/>
                          </a:solidFill>
                          <a:latin typeface="Calibri"/>
                        </a:rPr>
                        <a:t>Mô hình instruction-tuned (Qwen2-7B-Instruct)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Thay mô hình gốc bằng bản instruction-tuned, định dạng prompt theo chuẩn ChatML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Tận dụng tri thức tuân theo chỉ dẫn có sẵn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6C757D"/>
                          </a:solidFill>
                          <a:latin typeface="Calibri"/>
                        </a:rPr>
                        <a:t>Cân bằng học tương phản (giai đoạn 1)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Giới hạn số cặp user-item = 20.000, trọng số w_ui = 0.5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Mục tiêu căn chỉnh không bị cặp user-item lấn át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Bổ sung mục tiêu xếp hạng uAUC: L = BCE + 0.2·BPR theo từng người dùng (cần lấy mẫu theo nhóm người dùng). Chế độ tích hợp thông tin cộng tác hiện tại: đồng thời token mềm và CoRA.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CoRA: tiêm tín hiệu cộng tác vào trọng số mô hình ngôn ngữ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Collaborative LoRA (arXiv:2408.10645)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•  Tư tưởng CoRA: thay vì đưa thông tin cộng tác vào prompt, sinh trọng số tăng thêm hạng thấp (ΔW) hợp nhất vào trọng số mô hình ngôn ngữ</a:t>
            </a:r>
          </a:p>
          <a:p>
            <a:pPr algn="l" lvl="1">
              <a:spcAft>
                <a:spcPts val="900"/>
              </a:spcAft>
            </a:pPr>
            <a:r>
              <a:rPr sz="1300" b="0" i="0">
                <a:solidFill>
                  <a:srgbClr val="6C757D"/>
                </a:solidFill>
                <a:latin typeface="Calibri"/>
              </a:rPr>
              <a:t>–  thông tin cộng tác thấm sâu vào suy luận, không phá vỡ ngữ nghĩa prompt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•  Cách tích hợp: mười sáu truy vấn Q-Former → bộ tiêm → ΔW áp vào phép chiếu truy vấn và giá trị (q_proj, v_proj)</a:t>
            </a:r>
          </a:p>
          <a:p>
            <a:pPr algn="l" lvl="1">
              <a:spcAft>
                <a:spcPts val="900"/>
              </a:spcAft>
            </a:pPr>
            <a:r>
              <a:rPr sz="1300" b="0" i="0">
                <a:solidFill>
                  <a:srgbClr val="6C757D"/>
                </a:solidFill>
                <a:latin typeface="Calibri"/>
              </a:rPr>
              <a:t>–  cổng tanh khởi tạo không và chuẩn hóa L2 truy vấn → trọng số tăng thêm khởi đầu bằng không, ổn định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•  Chế độ tích hợp đồng thời: token mềm (không gian đầu vào) và CoRA (không gian tham số)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8412480" cy="1143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93592"/>
            <a:ext cx="8138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mbria"/>
              </a:rPr>
              <a:t>✓ KẾT QUẢ TRÊN TẬP KIỂM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813815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Tích hợp tín hiệu cộng tác (chế độ đồng thời) nâng AUC 0.7225 → 0.7589 (+3.64 điểm).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Phân tích thiết kế: kết hợp Q-Former với CoRA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Cơ sở phương pháp luận và nguy cơ trùng lặp cơ chế biểu diễn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4160520" cy="18288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87552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mbria"/>
              </a:rPr>
              <a:t>✓ LUẬN CỨ ỦNG HỘ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3886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E8B57"/>
                </a:solidFill>
                <a:latin typeface="Calibri"/>
              </a:rPr>
              <a:t>Bộ sinh truy vấn của CoRA về bản chất là một Q-Former.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E8B57"/>
                </a:solidFill>
                <a:latin typeface="Calibri"/>
              </a:rPr>
              <a:t>Tiền huấn luyện giai đoạn 1 và 2 cho khởi tạo tốt hơn so với CoRA gốc (chỉ tối ưu BCE trên 33.000 mẫu).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914400"/>
            <a:ext cx="4160520" cy="1828800"/>
          </a:xfrm>
          <a:prstGeom prst="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987552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9B2D"/>
                </a:solidFill>
                <a:latin typeface="Cambria"/>
              </a:rPr>
              <a:t>⚠ HẠN CHẾ PHƯƠNG PHÁP LUẬN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298448"/>
            <a:ext cx="3886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E89B2D"/>
                </a:solidFill>
                <a:latin typeface="Calibri"/>
              </a:rPr>
              <a:t>Giai đoạn 1 và 2 tối ưu cho mục tiêu căn chỉnh văn bản, không tối ưu cho việc sinh trọng số tăng thêm.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89B2D"/>
                </a:solidFill>
                <a:latin typeface="Calibri"/>
              </a:rPr>
              <a:t>Minh chứng: bộ tiêm phải chuẩn hóa L2 truy vấn (chuẩn L2 ≈ 16) để bù chênh lệch không gian biểu diễn.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343A40"/>
                </a:solidFill>
                <a:latin typeface="Calibri"/>
              </a:rPr>
              <a:t>•  Chế độ đồng thời dùng chung một biểu diễn truy vấn cho hai mục tiêu khác nhau → có nguy cơ trùng lặp cơ chế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343A40"/>
                </a:solidFill>
                <a:latin typeface="Calibri"/>
              </a:rPr>
              <a:t>•  Phương pháp kiểm chứng: nghiên cứu loại bỏ — token mềm / chỉ trọng số / đồng thời (kết hợp tham số cora_alpha)</a:t>
            </a:r>
          </a:p>
          <a:p>
            <a:pPr algn="l" lvl="1">
              <a:spcAft>
                <a:spcPts val="600"/>
              </a:spcAft>
            </a:pPr>
            <a:r>
              <a:rPr sz="1250" b="0" i="0">
                <a:solidFill>
                  <a:srgbClr val="6C757D"/>
                </a:solidFill>
                <a:latin typeface="Calibri"/>
              </a:rPr>
              <a:t>–  chế độ đồng thời vượt trội → hai cơ chế bổ trợ lẫn nhau   |   tương đương đơn lẻ → giản lược mô hình (nguyên lý Occam)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Quan sát trong quá trình huấn luyện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Giai đoạn 1 (học biểu diễn) và giai đoạn 2 (sinh văn bản)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43A40"/>
                </a:solidFill>
                <a:latin typeface="Calibri"/>
              </a:rPr>
              <a:t>•  Giai đoạn 1: học tương phản không còn 'chết' — chỉ số truy hồi item-item trên tập kiểm định 0.004 → 0.22, mất mát 5.18 → 1.65 ⇒ MF lành mạnh, tín hiệu cộng tác học được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43A40"/>
                </a:solidFill>
                <a:latin typeface="Calibri"/>
              </a:rPr>
              <a:t>•  Nhánh căn chỉnh item–văn bản bị quá khớp: mất mát huấn luyện giảm, kiểm định gần như phẳng</a:t>
            </a:r>
          </a:p>
          <a:p>
            <a:pPr algn="l" lvl="1">
              <a:spcAft>
                <a:spcPts val="800"/>
              </a:spcAft>
            </a:pPr>
            <a:r>
              <a:rPr sz="1250" b="0" i="0">
                <a:solidFill>
                  <a:srgbClr val="6C757D"/>
                </a:solidFill>
                <a:latin typeface="Calibri"/>
              </a:rPr>
              <a:t>–  nguyên nhân là khan hiếm dữ liệu item (~3.000), không phải mất cân bằng lô; cân bằng học tương phản đã khôi phục hoạt động của các mục tiêu này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43A40"/>
                </a:solidFill>
                <a:latin typeface="Calibri"/>
              </a:rPr>
              <a:t>•  Giai đoạn 2: hội tụ nhanh trong khoảng sáu vòng lặp rồi đi ngang (~0.67) — đúng kỳ vọng, không phải lỗi</a:t>
            </a:r>
          </a:p>
          <a:p>
            <a:pPr algn="l" lvl="1">
              <a:spcAft>
                <a:spcPts val="800"/>
              </a:spcAft>
            </a:pPr>
            <a:r>
              <a:rPr sz="1250" b="0" i="0">
                <a:solidFill>
                  <a:srgbClr val="6C757D"/>
                </a:solidFill>
                <a:latin typeface="Calibri"/>
              </a:rPr>
              <a:t>–  mô hình ngôn ngữ đông cứng đã mô hình hóa ngôn ngữ → phần còn lại là 'sàn' mất mát entropy chéo bất khả giảm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9B2D"/>
                </a:solidFill>
                <a:latin typeface="Cambria"/>
              </a:rPr>
              <a:t>Phần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Kết quả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6CFE5"/>
                </a:solidFill>
                <a:latin typeface="Calibri"/>
              </a:rPr>
              <a:t>MovieLens-1M, phân hoạch OOD2 — mô hình đầy đủ (bước 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Kết quả trên tập kiểm tra — mô hình đầy đủ (token mềm và CoRA)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Đánh giá trên ba phân hoạch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051560"/>
          <a:ext cx="7863840" cy="1691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463040"/>
                <a:gridCol w="1463040"/>
              </a:tblGrid>
              <a:tr h="42291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Phân hoạch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uAUC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Độ chính xác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LogLoss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6C757D"/>
                          </a:solidFill>
                          <a:latin typeface="Calibri"/>
                        </a:rPr>
                        <a:t>Tổng thể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0.7508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0.7041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0.6824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0.5926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6C757D"/>
                          </a:solidFill>
                          <a:latin typeface="Calibri"/>
                        </a:rPr>
                        <a:t>Warm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0.7830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0.7145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0.7065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0.5631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6C757D"/>
                          </a:solidFill>
                          <a:latin typeface="Calibri"/>
                        </a:rPr>
                        <a:t>Cold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0.7039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0.6372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0.6563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0.6246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2971800"/>
            <a:ext cx="7863840" cy="14173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7589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mbria"/>
              </a:rPr>
              <a:t>NHẬN XÉT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55848"/>
            <a:ext cx="758951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E3A5F"/>
                </a:solidFill>
                <a:latin typeface="Calibri"/>
              </a:rPr>
              <a:t>Tập kiểm định: bước 1 (chỉ văn bản) 0.7225 / 0.7057  →  bước 2 (đồng thời) 0.7589 / 0.7088.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E3A5F"/>
                </a:solidFill>
                <a:latin typeface="Calibri"/>
              </a:rPr>
              <a:t>So với báo cáo P9 (0.7325 / 0.7170): AUC +1.83 điểm, uAUC −1.29 điểm — vòng cải tiến nâng xếp hạng toàn cục rõ rệt, xếp hạng theo từng người dùng chưa cải thiện.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So sánh với các phương pháp tham chiếu — tập kiểm tra tổng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Số liệu tham chiếu trích từ bài báo SeLLa-Rec (Bảng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960120"/>
          <a:ext cx="7315200" cy="278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2651760"/>
                <a:gridCol w="1463040"/>
                <a:gridCol w="1463040"/>
              </a:tblGrid>
              <a:tr h="34861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Nhóm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Phương pháp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uAUC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Lọc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MF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0.6473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0.6264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Lọc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DIN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0.7138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0.6595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LLM (văn bản)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TALLRec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0.7268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0.6989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LLM +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CoLLM-MF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0.7357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0.7179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LLM +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BinLLM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0.7417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0.7239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LLM +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SeLLa-Rec (tốt nhất)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0.7606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0.7464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Mô hình đề xuất</a:t>
                      </a:r>
                    </a:p>
                  </a:txBody>
                  <a:tcPr marT="25400" marB="25400" marL="76200" marR="762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Bước 2 (đầy đủ)</a:t>
                      </a:r>
                    </a:p>
                  </a:txBody>
                  <a:tcPr marT="25400" marB="25400" marL="76200" marR="762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0.7508</a:t>
                      </a:r>
                    </a:p>
                  </a:txBody>
                  <a:tcPr marT="25400" marB="25400" marL="76200" marR="762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0.7041</a:t>
                      </a:r>
                    </a:p>
                  </a:txBody>
                  <a:tcPr marT="25400" marB="25400" marL="76200" marR="76200" anchor="ctr"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  <a:latin typeface="Calibri"/>
              </a:rPr>
              <a:t>AUC: vượt MF · DIN · TALLRec · CoLLM · BinLLM, chỉ dưới SeLLa-Rec   |   uAUC: trên MF, DIN, TALLRec; dưới CoLLM, BinLLM, SeLLa-Rec.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So sánh nhóm warm / cold với các phương pháp tham chiếu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Mô hình đề xuất là cột màu xanh lá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14</a:t>
            </a:r>
          </a:p>
        </p:txBody>
      </p:sp>
      <p:pic>
        <p:nvPicPr>
          <p:cNvPr id="9" name="Picture 8" descr="fig_warm_col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8686800" cy="3524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4160520"/>
            <a:ext cx="8503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43A40"/>
                </a:solidFill>
                <a:latin typeface="Calibri"/>
              </a:rPr>
              <a:t>Nhóm warm — AUC 0.783 vượt CoLLM, BinLLM và tiệm cận SeLLa-Rec (điểm mạnh). uAUC nhóm warm 0.715 và nhóm cold (0.704 / 0.637) thấp hơn nhóm phương pháp dựa trên mô hình ngôn ngữ.</a:t>
            </a:r>
          </a:p>
          <a:p>
            <a:pPr algn="l"/>
            <a:r>
              <a:rPr sz="1050" b="1" i="0">
                <a:solidFill>
                  <a:srgbClr val="E89B2D"/>
                </a:solidFill>
                <a:latin typeface="Calibri"/>
              </a:rPr>
              <a:t>⚠ Số liệu các phương pháp tham chiếu trích từ bài báo SeLLa-Rec (thực nghiệm của họ), không phải chạy lại trên cùng phân hoạch → chỉ mang tính tham chiếu.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Định hướng và kế hoạch nghiên cứu loại bỏ tiếp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Tách riêng đóng góp từng cải tiến và hướng khởi đầu lạnh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43A40"/>
                </a:solidFill>
                <a:latin typeface="Calibri"/>
              </a:rPr>
              <a:t>•  Quy luật xuyên suốt: các cải tiến nâng AUC (xếp hạng toàn cục) nhiều hơn uAUC (xếp hạng theo từng người dùng); nhóm cold là điểm yếu rõ nhất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43A40"/>
                </a:solidFill>
                <a:latin typeface="Calibri"/>
              </a:rPr>
              <a:t>•  Nghiên cứu loại bỏ tách riêng đóng góp từng cải tiến (hiện mới có nền tảng so với mô hình đầy đủ):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CoRA: so sánh token mềm / chỉ CoRA / đồng thời (× cora_alpha ∈ {2,4,8}) → định lượng đóng góp của CoRA so với token mềm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Mô hình instruction-tuned: chạy lại với Qwen2-7B-Base để cô lập đóng góp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Cân bằng học tương phản: quét số cặp user-item ∈ {10k, 20k, 40k} × w_ui ∈ {0.2, 0.5, 1.0}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Mục tiêu xếp hạng uAUC: trọng số ∈ {0, 0.2} để đo đóng góp của BPR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Đóng gói đa-token: một token so với ngữ cảnh mười hai token → xác nhận lại mức tăng uAUC trên nhóm cold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43A40"/>
                </a:solidFill>
                <a:latin typeface="Calibri"/>
              </a:rPr>
              <a:t>•  Khởi đầu lạnh (cold-start): tăng độ phủ căn chỉnh ảnh-văn bản và khai thác thông tin cộng tác phía người dùng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Cảm ơn thầy/cô đã lắng nghe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B6CFE5"/>
                </a:solidFill>
                <a:latin typeface="Calibri"/>
              </a:rPr>
              <a:t>Rất mong nhận được nhận xét và góp 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FE0F0"/>
                </a:solidFill>
                <a:latin typeface="Calibri"/>
              </a:rPr>
              <a:t>Bùi Nguyên Quốc Bảo  |  MSHV 24C12002  |  Hệ Thống Thông 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