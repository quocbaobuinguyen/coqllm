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72" r:id="rId23"/>
    <p:sldId id="260" r:id="rId11"/>
    <p:sldId id="261" r:id="rId12"/>
    <p:sldId id="262" r:id="rId13"/>
    <p:sldId id="263" r:id="rId14"/>
    <p:sldId id="266" r:id="rId17"/>
    <p:sldId id="267" r:id="rId18"/>
    <p:sldId id="268" r:id="rId19"/>
    <p:sldId id="269" r:id="rId20"/>
    <p:sldId id="273" r:id="rId24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5.xml"/><Relationship Id="rId24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  <a:latin typeface="Cambria"/>
              </a:rPr>
              <a:t>CĂN CHỈNH VÀ TÍCH HỢP THÔNG TIN CỘNG TÁC</a:t>
            </a:r>
          </a:p>
          <a:p>
            <a:pPr algn="l"/>
            <a:r>
              <a:rPr sz="1800" b="1" i="0">
                <a:solidFill>
                  <a:srgbClr val="1E3A5F"/>
                </a:solidFill>
                <a:latin typeface="Cambria"/>
              </a:rPr>
              <a:t>NHẰM NÂNG CAO HIỆU QUẢ CHO HỆ THỐNG TƯ VẤN</a:t>
            </a:r>
          </a:p>
          <a:p>
            <a:pPr algn="l"/>
            <a:r>
              <a:rPr sz="1800" b="1" i="0">
                <a:solidFill>
                  <a:srgbClr val="1E3A5F"/>
                </a:solidFill>
                <a:latin typeface="Cambria"/>
              </a:rPr>
              <a:t>DỰA TRÊN MÔ HÌNH NGÔN NGỮ LỚN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89B2D"/>
                </a:solidFill>
                <a:latin typeface="Cambria"/>
              </a:rPr>
              <a:t>Báo cáo P10 — Tiến độ luận văn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8046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43A40"/>
                </a:solidFill>
                <a:latin typeface="Calibri"/>
              </a:rPr>
              <a:t>Học viên:  Bùi Nguyên Quốc Bảo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43A40"/>
                </a:solidFill>
                <a:latin typeface="Calibri"/>
              </a:rPr>
              <a:t>MSHV:     24C12002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43A40"/>
                </a:solidFill>
                <a:latin typeface="Calibri"/>
              </a:rPr>
              <a:t>Ngành:    Hệ Thống Thông Tin</a:t>
            </a:r>
          </a:p>
          <a:p>
            <a:pPr algn="l"/>
            <a:r>
              <a:rPr sz="1200" b="0" i="0">
                <a:solidFill>
                  <a:srgbClr val="343A40"/>
                </a:solidFill>
                <a:latin typeface="Calibri"/>
              </a:rPr>
              <a:t>Ngày:     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Nội dung báo cáo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Cập nhật so với báo cáo P9 — ba cải thiện và phân tích phương pháp luận của CoRA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868680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905256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343A40"/>
                </a:solidFill>
                <a:latin typeface="Calibri"/>
              </a:rPr>
              <a:t>Tổng quan kiến trúc và kết quả nền tảng (báo cáo P9)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399031"/>
            <a:ext cx="365760" cy="365760"/>
          </a:xfrm>
          <a:prstGeom prst="ellipse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35607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343A40"/>
                </a:solidFill>
                <a:latin typeface="Calibri"/>
              </a:rPr>
              <a:t>Ba cải thiện: nhiều soft token, CoRA, cân bằng học tương phản (giai đoạn 1)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929384"/>
            <a:ext cx="365760" cy="365760"/>
          </a:xfrm>
          <a:prstGeom prst="ellipse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6596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343A40"/>
                </a:solidFill>
                <a:latin typeface="Calibri"/>
              </a:rPr>
              <a:t>CoRA — tiêm tín hiệu cộng tác vào trọng số mô hình ngôn ngữ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459736"/>
            <a:ext cx="365760" cy="365760"/>
          </a:xfrm>
          <a:prstGeom prst="ellipse">
            <a:avLst/>
          </a:prstGeom>
          <a:solidFill>
            <a:srgbClr val="2E6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496312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343A40"/>
                </a:solidFill>
                <a:latin typeface="Calibri"/>
              </a:rPr>
              <a:t>Kết quả thực nghiệm hiện tại — tổng thể và theo nhóm warm / cold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2990088"/>
            <a:ext cx="365760" cy="365760"/>
          </a:xfrm>
          <a:prstGeom prst="ellipse">
            <a:avLst/>
          </a:prstGeom>
          <a:solidFill>
            <a:srgbClr val="2E6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26664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343A40"/>
                </a:solidFill>
                <a:latin typeface="Calibri"/>
              </a:rPr>
              <a:t>So sánh với các phương pháp tham chiếu và biểu đồ warm / cold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520439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57016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343A40"/>
                </a:solidFill>
                <a:latin typeface="Calibri"/>
              </a:rPr>
              <a:t>Tiến độ viết luận văn (dàn bài + chương 1–2 hoàn thành)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2</a:t>
            </a:r>
          </a:p>
        </p:txBody>
      </p:sp>
      <p:sp>
        <p:nvSpPr>
          <p:cNvPr id="23" name="Oval 17"/>
          <p:cNvSpPr/>
          <p:nvPr/>
        </p:nvSpPr>
        <p:spPr>
          <a:xfrm>
            <a:off x="548640" y="4050791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24" name="TextBox 18"/>
          <p:cNvSpPr txBox="1"/>
          <p:nvPr/>
        </p:nvSpPr>
        <p:spPr>
          <a:xfrm>
            <a:off x="1097280" y="4087368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343A40"/>
                </a:solidFill>
                <a:latin typeface="Calibri"/>
              </a:rPr>
              <a:t>Định hướng và kế hoạch thí nghiệm loại bỏ (ablation) tiếp theo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274320" cy="91440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89B2D"/>
                </a:solidFill>
                <a:latin typeface="Cambria"/>
              </a:rPr>
              <a:t>Phần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Tổng quan và kết quả nền tảng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B6CFE5"/>
                </a:solidFill>
                <a:latin typeface="Calibri"/>
              </a:rPr>
              <a:t>Kiến trúc và các phát hiện đã thiết lập (báo cáo P9)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Tổng quan kiến trúc và kết quả nền tảng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Kiến trúc ba giai đoạn: MF → Q-Former → Qwen2-7B-Base + LoRA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343A40"/>
                </a:solidFill>
                <a:latin typeface="Calibri"/>
              </a:rPr>
              <a:t>•  Quy trình ba giai đoạn: MF (lọc cộng tác) → Q-Former (cầu nối) → Qwen2-7B-Base + LoRA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43A40"/>
                </a:solidFill>
                <a:latin typeface="Calibri"/>
              </a:rPr>
              <a:t>•  Soft token thông tin cộng tác giúp tăng +5.15 điểm uAUC trên nhóm warm so với chỉ dùng văn bản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43A40"/>
                </a:solidFill>
                <a:latin typeface="Calibri"/>
              </a:rPr>
              <a:t>•  Soft token phía người dùng: +1.79 điểm uAUC trên nhóm cold (bù tín hiệu khi khởi đầu lạnh)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43A40"/>
                </a:solidFill>
                <a:latin typeface="Calibri"/>
              </a:rPr>
              <a:t>•  Cơ chế InstructBLIP chưa mang lại lợi ích cho tác vụ dự đoán tỉ lệ nhấp (CTR)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43A40"/>
                </a:solidFill>
                <a:latin typeface="Calibri"/>
              </a:rPr>
              <a:t>•  Kết quả nền tảng (chỉ dùng thông tin cộng tác phía item): AUC 0.7325 / uAUC 0.7170 — vượt MF/DIN/TALLRec, ngang CoLLM, dưới BinLLM/SeLLa-Rec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46120"/>
            <a:ext cx="4114800" cy="14173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319272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Cambria"/>
              </a:rPr>
              <a:t>✓ KẾT QUẢ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30168"/>
            <a:ext cx="38404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E8B57"/>
                </a:solidFill>
                <a:latin typeface="Calibri"/>
              </a:rPr>
              <a:t>Q-Former đóng vai trò cầu nối giữa thông tin cộng tác và mô hình ngôn ngữ.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3246120"/>
            <a:ext cx="4114800" cy="1417320"/>
          </a:xfrm>
          <a:prstGeom prst="rect">
            <a:avLst/>
          </a:prstGeom>
          <a:solidFill>
            <a:srgbClr val="F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3319272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89B2D"/>
                </a:solidFill>
                <a:latin typeface="Cambria"/>
              </a:rPr>
              <a:t>⚠ HẠN CHẾ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630168"/>
            <a:ext cx="38404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E89B2D"/>
                </a:solidFill>
                <a:latin typeface="Calibri"/>
              </a:rPr>
              <a:t>Khởi đầu lạnh (cold-start) vẫn là điểm yếu; uAUC chưa cải thiện đáng kể.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Kiến trúc tổng quan SigLLM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Ba khối nối tiếp: MF (đông cứng) → Q-Former (cầu nối) → LLM (đông cứng) + LoRA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5</a:t>
            </a:r>
          </a:p>
        </p:txBody>
      </p:sp>
      <p:pic>
        <p:nvPicPr>
          <p:cNvPr id="9" name="Picture 8" descr="sigllm-architecture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88" y="822960"/>
            <a:ext cx="362102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274320" cy="91440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89B2D"/>
                </a:solidFill>
                <a:latin typeface="Cambria"/>
              </a:rPr>
              <a:t>Phần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Các cải thiện tuần này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B6CFE5"/>
                </a:solidFill>
                <a:latin typeface="Calibri"/>
              </a:rPr>
              <a:t>Nhiều soft token · CoRA · Cân bằng học tương phản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Dùng nhiều soft token cho tín hiệu cộng tác (multi-token)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Q-Former chú ý chéo trên chuỗi soft token có cấu trúc thay vì một soft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343A40"/>
                </a:solidFill>
                <a:latin typeface="Calibri"/>
              </a:rPr>
              <a:t>•  Trước (báo cáo P9): Q-Former chú ý chéo trên một token cộng tác duy nhất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343A40"/>
                </a:solidFill>
                <a:latin typeface="Calibri"/>
              </a:rPr>
              <a:t>•  Hiện tại: chuỗi mười hai token có cấu trúc = 1 người dùng + 1 mục tiêu + 10 lịch sử</a:t>
            </a:r>
          </a:p>
          <a:p>
            <a:pPr algn="l" lvl="1">
              <a:spcAft>
                <a:spcPts val="900"/>
              </a:spcAft>
            </a:pPr>
            <a:r>
              <a:rPr sz="1300" b="0" i="0">
                <a:solidFill>
                  <a:srgbClr val="6C757D"/>
                </a:solidFill>
                <a:latin typeface="Calibri"/>
              </a:rPr>
              <a:t>–  mỗi token = bộ chiếu(MF) + embedding loại (người dùng / mục tiêu / lịch sử) + embedding vị trí cho lịch sử</a:t>
            </a:r>
          </a:p>
          <a:p>
            <a:pPr algn="l" lvl="1">
              <a:spcAft>
                <a:spcPts val="900"/>
              </a:spcAft>
            </a:pPr>
            <a:r>
              <a:rPr sz="1300" b="0" i="0">
                <a:solidFill>
                  <a:srgbClr val="6C757D"/>
                </a:solidFill>
                <a:latin typeface="Calibri"/>
              </a:rPr>
              <a:t>–  số truy vấn 8 → 16 (tăng băng thông biểu diễn); hợp nhất ba ô giữ chỗ cũ thành một ô duy nhất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343A40"/>
                </a:solidFill>
                <a:latin typeface="Calibri"/>
              </a:rPr>
              <a:t>•  Q-Former phân biệt được vai trò từng thực thể cộng tác thay vì một vector trộn lẫn duy nhất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66160"/>
            <a:ext cx="8412480" cy="10972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639312"/>
            <a:ext cx="81381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Cambria"/>
              </a:rPr>
              <a:t>✓ KẾT QUẢ (so với Q-Former một token)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50208"/>
            <a:ext cx="813815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E8B57"/>
                </a:solidFill>
                <a:latin typeface="Calibri"/>
              </a:rPr>
              <a:t>uAUC trên nhóm cold +0.019 (0.6516 → 0.6705): tín hiệu danh tính người dùng hỗ trợ khi lịch sử thưa; AUC giữ nguyên (trong biên độ nhiễu).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Ba cải thiện tuần này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Khác biệt chính so với cấu hình nền tảng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914400"/>
          <a:ext cx="8412480" cy="306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3657600"/>
                <a:gridCol w="2103120"/>
              </a:tblGrid>
              <a:tr h="5105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Cải thiện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Cơ chế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Kỳ vọng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6C757D"/>
                          </a:solidFill>
                          <a:latin typeface="Calibri"/>
                        </a:rPr>
                        <a:t>Nhiều soft token cho tín hiệu cộng tác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43A40"/>
                          </a:solidFill>
                          <a:latin typeface="Calibri"/>
                        </a:rPr>
                        <a:t>Q-Former chú ý chéo trên chuỗi mười hai token (người dùng / mục tiêu / lịch sử) thay vì một token; số truy vấn 8 → 16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43A40"/>
                          </a:solidFill>
                          <a:latin typeface="Calibri"/>
                        </a:rPr>
                        <a:t>Phân biệt vai trò từng thực thể cộng tác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6C757D"/>
                          </a:solidFill>
                          <a:latin typeface="Calibri"/>
                        </a:rPr>
                        <a:t>CoRA — tiêm thông tin cộng tác vào trọng số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43A40"/>
                          </a:solidFill>
                          <a:latin typeface="Calibri"/>
                        </a:rPr>
                        <a:t>Sinh lượng hiệu chỉnh trọng số hạng thấp (ΔW) từ truy vấn Q-Former, hợp nhất vào trọng số mô hình ngôn ngữ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43A40"/>
                          </a:solidFill>
                          <a:latin typeface="Calibri"/>
                        </a:rPr>
                        <a:t>Tín hiệu cộng tác tác động ở tầng tham số, tránh nhiễu ở không gian đầu vào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6C757D"/>
                          </a:solidFill>
                          <a:latin typeface="Calibri"/>
                        </a:rPr>
                        <a:t>Cân bằng học tương phản (giai đoạn 1)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43A40"/>
                          </a:solidFill>
                          <a:latin typeface="Calibri"/>
                        </a:rPr>
                        <a:t>Giới hạn số cặp user-item = 20.000, trọng số w_ui = 0.5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43A40"/>
                          </a:solidFill>
                          <a:latin typeface="Calibri"/>
                        </a:rPr>
                        <a:t>Mục tiêu căn chỉnh không bị cặp user-item lấn át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CoRA: tiêm tín hiệu cộng tác vào trọng số mô hình ngôn ngữ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Collaborative LoRA (arXiv:2408.10645)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343A40"/>
                </a:solidFill>
                <a:latin typeface="Calibri"/>
              </a:rPr>
              <a:t>CoRA sinh lượng hiệu chỉnh trọng số hạng thấp (ΔW) từ truy vấn Q-Former, cộng trực tiếp vào trọng số của LLM thay vì đưa vào prompt.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20440"/>
            <a:ext cx="8412480" cy="11430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593592"/>
            <a:ext cx="81381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Cambria"/>
              </a:rPr>
              <a:t>✓ KẾT QUẢ TRÊN TẬP KIỂM ĐỊNH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04488"/>
            <a:ext cx="813815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E8B57"/>
                </a:solidFill>
                <a:latin typeface="Calibri"/>
              </a:rPr>
              <a:t>Tích hợp tín hiệu cộng tác nâng AUC trên tập kiểm định 0.7225 → 0.7589 (+3.64 điểm).</a:t>
            </a:r>
          </a:p>
        </p:txBody>
      </p:sp>
      <p:pic>
        <p:nvPicPr>
          <p:cNvPr id="13" name="Picture 12" descr="cora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600200"/>
            <a:ext cx="3749039" cy="18745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274320" cy="91440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89B2D"/>
                </a:solidFill>
                <a:latin typeface="Cambria"/>
              </a:rPr>
              <a:t>Phần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Kết quả thực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B6CFE5"/>
                </a:solidFill>
                <a:latin typeface="Calibri"/>
              </a:rPr>
              <a:t>MovieLens-1M, phân hoạch OOD2 — mô hình đầy đủ (bước 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Kết quả trên tập kiểm tra — mô hình đầy đủ (soft token và CoRA)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Đánh giá trên ba phân hoạch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051560"/>
          <a:ext cx="7863840" cy="1691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463040"/>
                <a:gridCol w="1463040"/>
                <a:gridCol w="1463040"/>
                <a:gridCol w="1463040"/>
              </a:tblGrid>
              <a:tr h="42291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Phân hoạch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uAUC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Độ chính xác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LogLoss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6C757D"/>
                          </a:solidFill>
                          <a:latin typeface="Calibri"/>
                        </a:rPr>
                        <a:t>Tổng thể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0.7508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0.7041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0.6824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0.5926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6C757D"/>
                          </a:solidFill>
                          <a:latin typeface="Calibri"/>
                        </a:rPr>
                        <a:t>Warm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0.7830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0.7145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0.7065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0.5631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6C757D"/>
                          </a:solidFill>
                          <a:latin typeface="Calibri"/>
                        </a:rPr>
                        <a:t>Cold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0.7039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0.6372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0.6563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3A40"/>
                          </a:solidFill>
                          <a:latin typeface="Calibri"/>
                        </a:rPr>
                        <a:t>0.6246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2971800"/>
            <a:ext cx="7863840" cy="14173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44952"/>
            <a:ext cx="7589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mbria"/>
              </a:rPr>
              <a:t>NHẬN XÉT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55848"/>
            <a:ext cx="758951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E3A5F"/>
                </a:solidFill>
                <a:latin typeface="Calibri"/>
              </a:rPr>
              <a:t>Tập kiểm định: bước 1 (chỉ văn bản) 0.7225 / 0.7057  →  bước 2 (đồng thời) 0.7589 / 0.7088.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E3A5F"/>
                </a:solidFill>
                <a:latin typeface="Calibri"/>
              </a:rPr>
              <a:t>So với báo cáo P9 (0.7325 / 0.7170): AUC +1.83 điểm, uAUC −1.29 điểm — vòng cải thiện nâng xếp hạng toàn cục nhưng chưa cải thiện xếp hạng theo từng người dùng.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So sánh với các phương pháp tham chiếu — tập kiểm tra tổng thể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Số liệu tham chiếu trích từ bài báo SeLLa-Rec (Bảng 1)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960120"/>
          <a:ext cx="7315200" cy="2788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2651760"/>
                <a:gridCol w="1463040"/>
                <a:gridCol w="1463040"/>
              </a:tblGrid>
              <a:tr h="34861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Nhóm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Phương pháp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uAUC</a:t>
                      </a:r>
                    </a:p>
                  </a:txBody>
                  <a:tcPr marT="25400" marB="25400" marL="76200" marR="76200" anchor="ctr">
                    <a:solidFill>
                      <a:srgbClr val="1E3A5F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6C757D"/>
                          </a:solidFill>
                          <a:latin typeface="Calibri"/>
                        </a:rPr>
                        <a:t>Lọc cộng tác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MF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0.6473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0.6264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6C757D"/>
                          </a:solidFill>
                          <a:latin typeface="Calibri"/>
                        </a:rPr>
                        <a:t>Lọc cộng tác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DIN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0.7138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0.6595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6C757D"/>
                          </a:solidFill>
                          <a:latin typeface="Calibri"/>
                        </a:rPr>
                        <a:t>LLM (văn bản)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TALLRec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0.7268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0.6989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6C757D"/>
                          </a:solidFill>
                          <a:latin typeface="Calibri"/>
                        </a:rPr>
                        <a:t>LLM + cộng tác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CoLLM-MF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0.7357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0.7179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6C757D"/>
                          </a:solidFill>
                          <a:latin typeface="Calibri"/>
                        </a:rPr>
                        <a:t>LLM + cộng tác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BinLLM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0.7417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0.7239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6C757D"/>
                          </a:solidFill>
                          <a:latin typeface="Calibri"/>
                        </a:rPr>
                        <a:t>LLM + cộng tác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SeLLa-Rec (tốt nhất)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0.7606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43A40"/>
                          </a:solidFill>
                          <a:latin typeface="Calibri"/>
                        </a:rPr>
                        <a:t>0.7464</a:t>
                      </a:r>
                    </a:p>
                  </a:txBody>
                  <a:tcPr marT="25400" marB="25400" marL="76200" marR="76200" anchor="ctr">
                    <a:solidFill>
                      <a:srgbClr val="F8F9FA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8B57"/>
                          </a:solidFill>
                          <a:latin typeface="Calibri"/>
                        </a:rPr>
                        <a:t>Mô hình đề xuất</a:t>
                      </a:r>
                    </a:p>
                  </a:txBody>
                  <a:tcPr marT="25400" marB="25400" marL="76200" marR="762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8B57"/>
                          </a:solidFill>
                          <a:latin typeface="Calibri"/>
                        </a:rPr>
                        <a:t>Bước 2 (đầy đủ)</a:t>
                      </a:r>
                    </a:p>
                  </a:txBody>
                  <a:tcPr marT="25400" marB="25400" marL="76200" marR="762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8B57"/>
                          </a:solidFill>
                          <a:latin typeface="Calibri"/>
                        </a:rPr>
                        <a:t>0.7508</a:t>
                      </a:r>
                    </a:p>
                  </a:txBody>
                  <a:tcPr marT="25400" marB="25400" marL="76200" marR="762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8B57"/>
                          </a:solidFill>
                          <a:latin typeface="Calibri"/>
                        </a:rPr>
                        <a:t>0.7041</a:t>
                      </a:r>
                    </a:p>
                  </a:txBody>
                  <a:tcPr marT="25400" marB="25400" marL="76200" marR="76200" anchor="ctr">
                    <a:solidFill>
                      <a:srgbClr val="E6F4E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  <a:latin typeface="Calibri"/>
              </a:rPr>
              <a:t>AUC: vượt MF · DIN · TALLRec · CoLLM · BinLLM, chỉ dưới SeLLa-Rec   |   uAUC: trên MF, DIN, TALLRec; dưới CoLLM, BinLLM, SeLLa-Rec.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So sánh nhóm warm / cold với các phương pháp tham chiếu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Mô hình đề xuất là cột màu xanh lá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13</a:t>
            </a:r>
          </a:p>
        </p:txBody>
      </p:sp>
      <p:pic>
        <p:nvPicPr>
          <p:cNvPr id="9" name="Picture 8" descr="fig_warm_cold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8686800" cy="35241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4160520"/>
            <a:ext cx="8503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43A40"/>
                </a:solidFill>
                <a:latin typeface="Calibri"/>
              </a:rPr>
              <a:t>Nhóm warm — AUC 0.783 vượt CoLLM, BinLLM và tiệm cận SeLLa-Rec (điểm mạnh). uAUC nhóm warm 0.715 và nhóm cold (0.704 / 0.637) thấp hơn nhóm phương pháp dựa trên mô hình ngôn ngữ.</a:t>
            </a:r>
          </a:p>
          <a:p>
            <a:pPr algn="l"/>
            <a:r>
              <a:rPr sz="1050" b="1" i="0">
                <a:solidFill>
                  <a:srgbClr val="E89B2D"/>
                </a:solidFill>
                <a:latin typeface="Calibri"/>
              </a:rPr>
              <a:t>⚠ Số liệu các phương pháp tham chiếu trích từ bài báo SeLLa-Rec (thực nghiệm của họ), không phải chạy lại trên cùng phân hoạch → chỉ mang tính tham chiếu.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Tiến độ viết luận văn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Dàn bài hoàn chỉnh; chương 1–2 đã xong, đang viết chương 3–4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343A40"/>
                </a:solidFill>
                <a:latin typeface="Calibri"/>
              </a:rPr>
              <a:t>✔  Đã hoàn thành dàn bài chi tiết toàn bộ luận văn (5 chương)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43A40"/>
                </a:solidFill>
                <a:latin typeface="Calibri"/>
              </a:rPr>
              <a:t>✔  Chương 1 — Giới thiệu (bối cảnh, khoảng trống, mục tiêu): hoàn thành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43A40"/>
                </a:solidFill>
                <a:latin typeface="Calibri"/>
              </a:rPr>
              <a:t>✔  Chương 2 — Các công trình liên quan (CF, LLM-RecSys, Q-Former): hoàn thành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43A40"/>
                </a:solidFill>
                <a:latin typeface="Calibri"/>
              </a:rPr>
              <a:t>◐  Chương 3 — Phương pháp đề xuất: đang viết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43A40"/>
                </a:solidFill>
                <a:latin typeface="Calibri"/>
              </a:rPr>
              <a:t>◐  Chương 4 — Thực nghiệm và kết quả: đang viết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4008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Định hướng và kế hoạch thí nghiệm loại bỏ (ablation) tiếp theo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03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0F0"/>
                </a:solidFill>
                <a:latin typeface="Calibri"/>
              </a:rPr>
              <a:t>Tách riêng đóng góp từng cải thiện và hướng khởi đầu lạnh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343A40"/>
                </a:solidFill>
                <a:latin typeface="Calibri"/>
              </a:rPr>
              <a:t>•  Quy luật xuyên suốt: các cải thiện nâng AUC (xếp hạng toàn cục) nhiều hơn uAUC (xếp hạng theo từng người dùng); nhóm cold là điểm yếu rõ nhất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343A40"/>
                </a:solidFill>
                <a:latin typeface="Calibri"/>
              </a:rPr>
              <a:t>•  Thí nghiệm loại bỏ tách riêng đóng góp từng cải thiện (hiện mới có nền tảng so với mô hình đầy đủ):</a:t>
            </a:r>
          </a:p>
          <a:p>
            <a:pPr algn="l" lvl="1">
              <a:spcAft>
                <a:spcPts val="500"/>
              </a:spcAft>
            </a:pPr>
            <a:r>
              <a:rPr sz="1200" b="0" i="0">
                <a:solidFill>
                  <a:srgbClr val="6C757D"/>
                </a:solidFill>
                <a:latin typeface="Calibri"/>
              </a:rPr>
              <a:t>–  CoRA: so sánh soft token / chỉ CoRA / đồng thời (× cora_alpha ∈ {2,4,8}) → định lượng đóng góp của CoRA so với soft token</a:t>
            </a:r>
          </a:p>
          <a:p>
            <a:pPr algn="l" lvl="1">
              <a:spcAft>
                <a:spcPts val="500"/>
              </a:spcAft>
            </a:pPr>
            <a:r>
              <a:rPr sz="1200" b="0" i="0">
                <a:solidFill>
                  <a:srgbClr val="6C757D"/>
                </a:solidFill>
                <a:latin typeface="Calibri"/>
              </a:rPr>
              <a:t>–  Mô hình instruction-tuned: chạy lại với Qwen2-7B-Base để cô lập đóng góp</a:t>
            </a:r>
          </a:p>
          <a:p>
            <a:pPr algn="l" lvl="1">
              <a:spcAft>
                <a:spcPts val="500"/>
              </a:spcAft>
            </a:pPr>
            <a:r>
              <a:rPr sz="1200" b="0" i="0">
                <a:solidFill>
                  <a:srgbClr val="6C757D"/>
                </a:solidFill>
                <a:latin typeface="Calibri"/>
              </a:rPr>
              <a:t>–  Cân bằng học tương phản: quét số cặp user-item ∈ {10k, 20k, 40k} × w_ui ∈ {0.2, 0.5, 1.0}</a:t>
            </a:r>
          </a:p>
          <a:p>
            <a:pPr algn="l" lvl="1">
              <a:spcAft>
                <a:spcPts val="500"/>
              </a:spcAft>
            </a:pPr>
            <a:r>
              <a:rPr sz="1200" b="0" i="0">
                <a:solidFill>
                  <a:srgbClr val="6C757D"/>
                </a:solidFill>
                <a:latin typeface="Calibri"/>
              </a:rPr>
              <a:t>–  Mục tiêu xếp hạng uAUC: trọng số ∈ {0, 0.2} để đo đóng góp của BPR</a:t>
            </a:r>
          </a:p>
          <a:p>
            <a:pPr algn="l" lvl="1">
              <a:spcAft>
                <a:spcPts val="500"/>
              </a:spcAft>
            </a:pPr>
            <a:r>
              <a:rPr sz="1200" b="0" i="0">
                <a:solidFill>
                  <a:srgbClr val="6C757D"/>
                </a:solidFill>
                <a:latin typeface="Calibri"/>
              </a:rPr>
              <a:t>–  Nhiều soft token: một token so với ngữ cảnh mười hai token → xác nhận lại mức tăng uAUC trên nhóm cold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343A40"/>
                </a:solidFill>
                <a:latin typeface="Calibri"/>
              </a:rPr>
              <a:t>•  Khởi đầu lạnh (cold-start): tăng độ phủ căn chỉnh ảnh-văn bản và khai thác thông tin cộng tác phía người dùng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864608"/>
            <a:ext cx="9144000" cy="36576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491947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C757D"/>
                </a:solidFill>
                <a:latin typeface="Calibri"/>
              </a:rPr>
              <a:t>© Bộ môn KHMT - Khoa CNTT - Trường ĐH KHTN-HCM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91947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274320" cy="914400"/>
          </a:xfrm>
          <a:prstGeom prst="rect">
            <a:avLst/>
          </a:prstGeom>
          <a:solidFill>
            <a:srgbClr val="E8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Cảm ơn thầy/cô đã lắng nghe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8036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B6CFE5"/>
                </a:solidFill>
                <a:latin typeface="Calibri"/>
              </a:rPr>
              <a:t>Rất mong nhận được nhận xét và góp 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FE0F0"/>
                </a:solidFill>
                <a:latin typeface="Calibri"/>
              </a:rPr>
              <a:t>Bùi Nguyên Quốc Bảo  |  MSHV 24C12002  |  Hệ Thống Thông Tin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